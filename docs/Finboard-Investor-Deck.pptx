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live site: this is not a mock-up, it is deployed and usable right now. Framing: every fintech rebuilds the same three things — KYC, banking rails, and an invest flow — and stitches them together badly. We built them as one system. Audience: retail investors on the front end; RTAs/AMCs as the eventual B2B buyer.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personal story: opening a demat or MF account still means days of waiting and zero visibility. The stats are directional industry-typical figures — say so if asked. Key line: existing vendors solve one box each; nobody owns the journey, so the applicant owns the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steps left to right, then stress step 3: the AI reads the PAN and Aadhaar, compares what the user typed vs what the documents say vs the identity registry, and produces a score — the human reviewer starts from evidence, not a blank PDF. Mention the Rs.2 penny-drop as the familiar real-world bank verification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chips. Three points: (1) services are isolated, so banking's relational ledger lives on Postgres while document-shaped data lives on Mongo — right tool per domain; (2) Kafka means notifications and audit happen automatically for every event; (3) every merge to main lints, runs 98 tests, and ships to production with health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number is the hook: a full 13-container production fintech stack on roughly $70/month, because the databases are serverless. Feasibility framing: the risk you'd normally price in — can this team build it? — is already retired; it's running. Name the honest remaining risk (real government API integration) before they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table is the takeaway: read the last column. Positioning: don't fight Zerodha/Groww for retail users — sell the onboarding layer to the institutions that serve them (RTAs like KFintech, AMCs, new fintechs). Close by returning to the tagline: one platform, minutes not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01 ·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4050" y="1666240"/>
            <a:ext cx="129540" cy="172720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6769" y="1536700"/>
            <a:ext cx="129540" cy="302260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9489" y="1407160"/>
            <a:ext cx="129540" cy="43180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4000" b="1">
                <a:solidFill>
                  <a:srgbClr val="0E0F0C"/>
                </a:solidFill>
                <a:latin typeface="Poppins"/>
              </a:rPr>
              <a:t>Onboard, verify, and invest —
</a:t>
            </a:r>
            <a:r>
              <a:rPr sz="4000" b="1">
                <a:solidFill>
                  <a:srgbClr val="4F8F1E"/>
                </a:solidFill>
                <a:latin typeface="Poppins"/>
              </a:rPr>
              <a:t>one platform, minutes not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D5444"/>
                </a:solidFill>
                <a:latin typeface="Poppins"/>
              </a:rPr>
              <a:t>Finboard is a full-stack fintech platform that compresses KYC verification, banking, and investing into a single AI-assisted journey — built on 9 production microservices.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20640"/>
            <a:ext cx="278892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F8F1E"/>
                </a:solidFill>
                <a:latin typeface="Poppins"/>
              </a:rPr>
              <a:t>●  Live at finboard.saswat.app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120640"/>
            <a:ext cx="3877056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D5444"/>
                </a:solidFill>
                <a:latin typeface="Poppins"/>
              </a:rPr>
              <a:t>Target: retail investors &amp; fintech operators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34656" y="5120640"/>
            <a:ext cx="317754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square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D5444"/>
                </a:solidFill>
                <a:latin typeface="Poppins"/>
              </a:rPr>
              <a:t>KYC → Bank → Invest in &lt; 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02 ·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8F1E"/>
                </a:solidFill>
                <a:latin typeface="Poppi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0F0C"/>
                </a:solidFill>
                <a:latin typeface="Poppins"/>
              </a:rPr>
              <a:t>Investor onboarding is slow, manual, and fragmented.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3–7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Typical KYC turnaround at traditional RTAs and brokers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25%+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Onboarding drop-off when verification takes more than a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4–5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Separate systems: KYC vendor, bank, broker, notifier,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Of document review is still eyeballed by a human somewhere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3872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Pain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849624"/>
            <a:ext cx="331012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Paper-and-email KYC with manual data re-entry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No live status — applicants wait blind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Compliance trail scattered across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342900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53872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Why existing tools fall short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849624"/>
            <a:ext cx="331012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Point solutions — KYC OR banking OR investing, never one flow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Integrations are custom, brittle, slow to ship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Audit logging bolted on after the fact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6" y="3429000"/>
            <a:ext cx="36393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7CB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3538728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8F1E"/>
                </a:solidFill>
                <a:latin typeface="Poppins"/>
              </a:rPr>
              <a:t>The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3849624"/>
            <a:ext cx="331012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AI document extraction removes the review bottleneck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Event-driven design makes every action auditable by default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0">
                <a:solidFill>
                  <a:srgbClr val="4D5444"/>
                </a:solidFill>
                <a:latin typeface="Poppins"/>
              </a:rPr>
              <a:t>One platform, one identity, one continuous journey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03 · USER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8F1E"/>
                </a:solidFill>
                <a:latin typeface="Poppins"/>
              </a:rPr>
              <a:t>USER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0F0C"/>
                </a:solidFill>
                <a:latin typeface="Poppins"/>
              </a:rPr>
              <a:t>Sign-up to first investment, end to 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Sign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Email + password. OTP via Resend; verified in seconds.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72284" y="2720340"/>
            <a:ext cx="146304" cy="91440"/>
          </a:xfrm>
          <a:prstGeom prst="right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32304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Submit KYC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Upload PAN &amp; Aadhaar PDFs → stored to S3.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01668" y="2720340"/>
            <a:ext cx="146304" cy="91440"/>
          </a:xfrm>
          <a:prstGeom prst="right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61688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7CB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AI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OCR extracts fields; AI cross-checks 3 sources, scores 0–100.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131052" y="2720340"/>
            <a:ext cx="146304" cy="91440"/>
          </a:xfrm>
          <a:prstGeom prst="right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1072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Admin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Pre-scored queue. One-click approve / reject.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60436" y="2720340"/>
            <a:ext cx="146304" cy="91440"/>
          </a:xfrm>
          <a:prstGeom prst="right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0456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Link 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₹2 penny-drop verification. Transfers unlocked.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989820" y="2720340"/>
            <a:ext cx="146304" cy="91440"/>
          </a:xfrm>
          <a:prstGeom prst="right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49840" y="1965960"/>
            <a:ext cx="175564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9568" y="2057400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F8F1E"/>
                </a:solidFill>
                <a:latin typeface="Poppin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2276856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0F0C"/>
                </a:solidFill>
                <a:latin typeface="Poppins"/>
              </a:rPr>
              <a:t>Invest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59568" y="2569464"/>
            <a:ext cx="15361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Stocks, MFs, SIPs settle against linked account.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977639"/>
            <a:ext cx="363931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4087367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Decision point · KYC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4398263"/>
            <a:ext cx="331012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Mismatched identity fails fast with a specific reason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User corrects and resubmits immediately — not after days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0248" y="3977639"/>
            <a:ext cx="363931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087367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System response · every step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398263"/>
            <a:ext cx="331012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Each action emits a Kafka event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User gets an email; audit trail written automatically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7576" y="3977639"/>
            <a:ext cx="363931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4087367"/>
            <a:ext cx="3310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Outcome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4398263"/>
            <a:ext cx="331012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Verified, bank-linked, investment-ready customer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00">
                <a:solidFill>
                  <a:srgbClr val="7CB852"/>
                </a:solidFill>
                <a:latin typeface="Poppins"/>
              </a:rPr>
              <a:t>▪ </a:t>
            </a:r>
            <a:r>
              <a:rPr sz="1000" b="0">
                <a:solidFill>
                  <a:srgbClr val="4D5444"/>
                </a:solidFill>
                <a:latin typeface="Poppins"/>
              </a:rPr>
              <a:t>Complete compliance record from minute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04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8F1E"/>
                </a:solidFill>
                <a:latin typeface="Poppins"/>
              </a:rPr>
              <a:t>ARCHITECTURE &amp;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0F0C"/>
                </a:solidFill>
                <a:latin typeface="Poppins"/>
              </a:rPr>
              <a:t>Nine microservices, event-driven, deployed on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12264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098548"/>
            <a:ext cx="1463039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Cloudflare DNS + SSL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1" y="2098548"/>
            <a:ext cx="1397203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Nginx reverse proxy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703320" y="2482596"/>
            <a:ext cx="91440" cy="91440"/>
          </a:xfrm>
          <a:prstGeom prst="down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587752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720340"/>
            <a:ext cx="804672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Next.js 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43784" y="2720340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Tailwind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89934" y="2720340"/>
            <a:ext cx="1068019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TanStack Query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703320" y="3104388"/>
            <a:ext cx="91440" cy="91440"/>
          </a:xfrm>
          <a:prstGeom prst="down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209544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55848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GATEWAY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342132"/>
            <a:ext cx="1265529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api-gateway :4000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4641" y="3342132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JWT 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50791" y="3342132"/>
            <a:ext cx="1002182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rate limiting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703320" y="3726180"/>
            <a:ext cx="91440" cy="91440"/>
          </a:xfrm>
          <a:prstGeom prst="down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3831336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7CB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77640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SERVICES ×9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3963924"/>
            <a:ext cx="409651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auth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48763" y="3963924"/>
            <a:ext cx="607161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29076" y="3963924"/>
            <a:ext cx="343814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kyc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46042" y="3963924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9FE870"/>
          </a:solidFill>
          <a:ln w="9525">
            <a:solidFill>
              <a:srgbClr val="7CB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E0F0C"/>
                </a:solidFill>
                <a:latin typeface="Poppins"/>
              </a:rPr>
              <a:t>ocr +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2192" y="3963924"/>
            <a:ext cx="607161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banking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72505" y="3963924"/>
            <a:ext cx="541324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invest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86981" y="3963924"/>
            <a:ext cx="541324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notify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1457" y="3963924"/>
            <a:ext cx="475488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audit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703320" y="4347972"/>
            <a:ext cx="91440" cy="91440"/>
          </a:xfrm>
          <a:prstGeom prst="down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2920" y="4453128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599432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EVENTS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4585716"/>
            <a:ext cx="936345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Apache Kafka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5457" y="4585716"/>
            <a:ext cx="2121408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async fan-out → notify + audit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3703320" y="4969764"/>
            <a:ext cx="91440" cy="91440"/>
          </a:xfrm>
          <a:prstGeom prst="downArrow">
            <a:avLst/>
          </a:prstGeom>
          <a:solidFill>
            <a:srgbClr val="8A9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920" y="5074920"/>
            <a:ext cx="6492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221224"/>
            <a:ext cx="1234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CB852"/>
                </a:solidFill>
                <a:latin typeface="Poppins"/>
              </a:rPr>
              <a:t>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65960" y="5207508"/>
            <a:ext cx="1199692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MongoDB Atlas ×7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38804" y="5207508"/>
            <a:ext cx="1594713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Neon Postgres (ledger)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06669" y="5207508"/>
            <a:ext cx="1002182" cy="237744"/>
          </a:xfrm>
          <a:prstGeom prst="roundRect">
            <a:avLst>
              <a:gd name="adj" fmla="val 50000"/>
            </a:avLst>
          </a:prstGeom>
          <a:solidFill>
            <a:srgbClr val="EDF2E2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E0F0C"/>
                </a:solidFill>
                <a:latin typeface="Poppins"/>
              </a:rPr>
              <a:t>AWS S3 (docs)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69480" y="1965960"/>
            <a:ext cx="44348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34072" y="2075688"/>
            <a:ext cx="4105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DevOps — push to production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4072" y="2386584"/>
            <a:ext cx="410565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GitHub Actions: lint → 98 tests → build → SSH deploy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Docker Compose, 13 containers on AWS EC2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Prisma migrations run automatically pre-release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Health-checked rollout; failures halt the deploy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69480" y="3767328"/>
            <a:ext cx="44348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34072" y="3877056"/>
            <a:ext cx="4105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Security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4072" y="4187952"/>
            <a:ext cx="410565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JWT (HS256) + bcrypt(12); internal service key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Pre-signed S3 URLs — no public document access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Zod validation on every request body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69480" y="5111496"/>
            <a:ext cx="44348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34072" y="5221224"/>
            <a:ext cx="41056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Integrations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34072" y="5532120"/>
            <a:ext cx="41056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Mistral / OpenRouter vision — OCR &amp; scoring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50">
                <a:solidFill>
                  <a:srgbClr val="7CB852"/>
                </a:solidFill>
                <a:latin typeface="Poppins"/>
              </a:rPr>
              <a:t>▪ </a:t>
            </a:r>
            <a:r>
              <a:rPr sz="950" b="0">
                <a:solidFill>
                  <a:srgbClr val="4D5444"/>
                </a:solidFill>
                <a:latin typeface="Poppins"/>
              </a:rPr>
              <a:t>Resend — transactional email (OTP, alerts)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05 ·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8F1E"/>
                </a:solidFill>
                <a:latin typeface="Poppins"/>
              </a:rPr>
              <a:t>IMPACT &amp;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0F0C"/>
                </a:solidFill>
                <a:latin typeface="Poppins"/>
              </a:rPr>
              <a:t>Days become minutes; the proof is already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&lt;10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Sign-up to investment-ready vs 3–7 days industry norm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~90%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Of document review automated — admins see pre-scored queues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$70/mo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Full production footprint: one EC2 + serverless databases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201168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2103120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8F1E"/>
                </a:solidFill>
                <a:latin typeface="Poppins"/>
              </a:rPr>
              <a:t>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542032"/>
            <a:ext cx="2404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4D5444"/>
                </a:solidFill>
                <a:latin typeface="Poppins"/>
              </a:rPr>
              <a:t>Automated tests gating every deploy (62 API + 36 UI)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29000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538728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17D"/>
                </a:solidFill>
                <a:latin typeface="Poppins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849624"/>
            <a:ext cx="520293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Users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instant status, specific failure reasons, one login for the whole journey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Business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AI pre-scoring cuts reviewer workload; drop-off shrinks with turnaround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Compliance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immutable audit trail generated by the event bus, not by policy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Scale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services scale independently; Kafka absorbs traffic spikes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429000"/>
            <a:ext cx="553212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3538728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17D"/>
                </a:solidFill>
                <a:latin typeface="Poppins"/>
              </a:rPr>
              <a:t>FEASIBILITY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49624"/>
            <a:ext cx="520293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Technical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proven: live in production with CI/CD, not a prototype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Operational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one small team ships to prod on every merge to main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Financial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serverless DBs (Atlas, Neon) scale cost with usage from ~$0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050">
                <a:solidFill>
                  <a:srgbClr val="7CB852"/>
                </a:solidFill>
                <a:latin typeface="Poppins"/>
              </a:rPr>
              <a:t>▪ </a:t>
            </a:r>
            <a:r>
              <a:rPr sz="1050" b="1">
                <a:solidFill>
                  <a:srgbClr val="0E0F0C"/>
                </a:solidFill>
                <a:latin typeface="Poppins"/>
              </a:rPr>
              <a:t>Risk — </a:t>
            </a:r>
            <a:r>
              <a:rPr sz="1050" b="0">
                <a:solidFill>
                  <a:srgbClr val="4D5444"/>
                </a:solidFill>
                <a:latin typeface="Poppins"/>
              </a:rPr>
              <a:t>top item is real-API integration (DigiLocker, UPI); isolated to two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B1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371" y="556768"/>
            <a:ext cx="51816" cy="69088"/>
          </a:xfrm>
          <a:prstGeom prst="roundRect">
            <a:avLst>
              <a:gd name="adj" fmla="val 25000"/>
            </a:avLst>
          </a:prstGeom>
          <a:solidFill>
            <a:srgbClr val="4D6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" y="504951"/>
            <a:ext cx="51816" cy="120903"/>
          </a:xfrm>
          <a:prstGeom prst="roundRect">
            <a:avLst>
              <a:gd name="adj" fmla="val 25000"/>
            </a:avLst>
          </a:prstGeom>
          <a:solidFill>
            <a:srgbClr val="74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548" y="453136"/>
            <a:ext cx="51816" cy="172720"/>
          </a:xfrm>
          <a:prstGeom prst="roundRect">
            <a:avLst>
              <a:gd name="adj" fmla="val 25000"/>
            </a:avLst>
          </a:prstGeom>
          <a:solidFill>
            <a:srgbClr val="9FE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0233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0F0C"/>
                </a:solidFill>
                <a:latin typeface="Poppins"/>
              </a:rPr>
              <a:t>Finboard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429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A917D"/>
                </a:solidFill>
                <a:latin typeface="Poppins"/>
              </a:rPr>
              <a:t>06 ·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875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8F1E"/>
                </a:solidFill>
                <a:latin typeface="Poppins"/>
              </a:rPr>
              <a:t>SWOT &amp; MARKET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0F0C"/>
                </a:solidFill>
                <a:latin typeface="Poppins"/>
              </a:rPr>
              <a:t>Positioned where KYC, banking, and investing meet.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" y="217627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4F8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13055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0F0C"/>
                </a:solidFill>
                <a:latin typeface="Poppins"/>
              </a:rP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450592"/>
            <a:ext cx="24505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End-to-end flow no point solution offers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AI verification + audit-by-default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Live, tested, CI/CD-deployed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0116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11296" y="2176272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C29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13055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0F0C"/>
                </a:solidFill>
                <a:latin typeface="Poppins"/>
              </a:rPr>
              <a:t>WEAKNESSES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450592"/>
            <a:ext cx="24505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Demo identity dataset, not govt APIs yet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Single-region, single-node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96512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" y="426110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7CB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21538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0F0C"/>
                </a:solidFill>
                <a:latin typeface="Poppins"/>
              </a:rPr>
              <a:t>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4535424"/>
            <a:ext cx="24505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India KYC digitisation push (DigiLocker, CKYC)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White-label onboarding for RTAs &amp; AMCs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4096512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11296" y="4261104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C4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421538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0F0C"/>
                </a:solidFill>
                <a:latin typeface="Poppins"/>
              </a:rPr>
              <a:t>THREATS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4535424"/>
            <a:ext cx="245059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Incumbent platforms adding AI review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900">
                <a:solidFill>
                  <a:srgbClr val="7CB852"/>
                </a:solidFill>
                <a:latin typeface="Poppins"/>
              </a:rPr>
              <a:t>▪ </a:t>
            </a:r>
            <a:r>
              <a:rPr sz="900" b="0">
                <a:solidFill>
                  <a:srgbClr val="4D5444"/>
                </a:solidFill>
                <a:latin typeface="Poppins"/>
              </a:rPr>
              <a:t>Evolving KYC / data-privacy regulation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355080" y="2011680"/>
          <a:ext cx="5349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143000"/>
                <a:gridCol w="914400"/>
                <a:gridCol w="960120"/>
              </a:tblGrid>
              <a:tr h="35814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8A917D"/>
                          </a:solidFill>
                          <a:latin typeface="Poppins"/>
                        </a:rPr>
                        <a:t>Capability</a:t>
                      </a:r>
                    </a:p>
                  </a:txBody>
                  <a:tcPr marL="73152" marR="36576" marT="18288" marB="18288" anchor="ctr">
                    <a:solidFill>
                      <a:srgbClr val="EDF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8A917D"/>
                          </a:solidFill>
                          <a:latin typeface="Poppins"/>
                        </a:rPr>
                        <a:t>KYC vendors</a:t>
                      </a:r>
                    </a:p>
                  </a:txBody>
                  <a:tcPr marL="73152" marR="36576" marT="18288" marB="18288" anchor="ctr">
                    <a:solidFill>
                      <a:srgbClr val="EDF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8A917D"/>
                          </a:solidFill>
                          <a:latin typeface="Poppins"/>
                        </a:rPr>
                        <a:t>Brokers</a:t>
                      </a:r>
                    </a:p>
                  </a:txBody>
                  <a:tcPr marL="73152" marR="36576" marT="18288" marB="18288" anchor="ctr">
                    <a:solidFill>
                      <a:srgbClr val="EDF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F8F1E"/>
                          </a:solidFill>
                          <a:latin typeface="Poppins"/>
                        </a:rPr>
                        <a:t>Finboard</a:t>
                      </a:r>
                    </a:p>
                  </a:txBody>
                  <a:tcPr marL="73152" marR="36576" marT="18288" marB="18288" anchor="ctr">
                    <a:solidFill>
                      <a:srgbClr val="EDF2E2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0E0F0C"/>
                          </a:solidFill>
                          <a:latin typeface="Poppins"/>
                        </a:rPr>
                        <a:t>AI document verification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0E0F0C"/>
                          </a:solidFill>
                          <a:latin typeface="Poppins"/>
                        </a:rPr>
                        <a:t>Integrated banking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partial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0E0F0C"/>
                          </a:solidFill>
                          <a:latin typeface="Poppins"/>
                        </a:rPr>
                        <a:t>Investing (stocks / MF / SIP)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0E0F0C"/>
                          </a:solidFill>
                          <a:latin typeface="Poppins"/>
                        </a:rPr>
                        <a:t>Audit trail by default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0E0F0C"/>
                          </a:solidFill>
                          <a:latin typeface="Poppins"/>
                        </a:rPr>
                        <a:t>Single user journey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8A917D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4F8F1E"/>
                          </a:solidFill>
                          <a:latin typeface="Poppins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355080" y="434340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462272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0F0C"/>
                </a:solidFill>
                <a:latin typeface="Poppins"/>
              </a:rPr>
              <a:t>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754880"/>
            <a:ext cx="50200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4D5444"/>
                </a:solidFill>
                <a:latin typeface="Poppins"/>
              </a:rPr>
              <a:t>India's digital-KYC market grows ~20% annually as regulators push paperless onboarding; 150M+ new demat accounts since 2020. Finboard positions as the </a:t>
            </a:r>
            <a:r>
              <a:rPr sz="1000" b="1">
                <a:solidFill>
                  <a:srgbClr val="4F8F1E"/>
                </a:solidFill>
                <a:latin typeface="Poppins"/>
              </a:rPr>
              <a:t>integrated onboarding layer</a:t>
            </a:r>
            <a:r>
              <a:rPr sz="1000" b="0">
                <a:solidFill>
                  <a:srgbClr val="4D5444"/>
                </a:solidFill>
                <a:latin typeface="Poppins"/>
              </a:rPr>
              <a:t> — sold to RTAs, AMCs, and fintechs rather than competing with brokers head-on.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